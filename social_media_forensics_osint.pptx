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81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safe, public-source investigation framework. Emphasize that it combines evidence capture, profile extraction, username search, network analysis, hashing, and final reports in one streamlined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practical investigation problem: public information is spread across multiple sources and can change quickly. The tool reduces manual steps and adds forensic discipline through timestamps, hashes, and structured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 as a complete workflow rather than a single script. Highlight that success is not only data collection; it also requires evidence integrity, case organization, and readable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system at a high level. Inputs enter through the GUI or CLI, the shared workflow validates and orchestrates collectors, then the case store preserves artifacts and exports reports, graphs, and bundles.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feature set. Emphasize the accuracy rule: the tool separates confirmed public findings from possible leads and unavailable checks, which is important for responsible OSINT.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a user runs an investigation from active case setup to final export. Mention that stable output names make repeated demos easier and keep the case directory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chain-of-custody flow: collect public evidence, preserve it, compute hashes, write the manifest and chain file, then verify later. This is what turns simple scraping into a forensic-style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network graph and explain that relationships are stored as multiple formats for technical and non-technical review. The final report is designed to start with a summary and then let the reviewer drill down into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important for a university defense. Make clear that the tool avoids private access and does not bypass controls. Its value is in structured public evidence collection, validation,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by tying results back to the project goal. The key achievement is a full pipeline: intake, collection, validation, hashing, graphing, reporting, and export. Mention future improvements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830568" y="950976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976872" y="950976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123176" y="950976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6629400" y="5349240"/>
            <a:ext cx="4892040" cy="777240"/>
          </a:xfrm>
          <a:prstGeom prst="rect">
            <a:avLst/>
          </a:prstGeom>
          <a:solidFill>
            <a:srgbClr val="080C11">
              <a:alpha val="88000"/>
            </a:srgbClr>
          </a:solidFill>
          <a:ln w="12700">
            <a:solidFill>
              <a:srgbClr val="080C1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594360" y="1051560"/>
            <a:ext cx="5669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Media Forensics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OSINT Investigation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800" dirty="0"/>
          </a:p>
        </p:txBody>
      </p:sp>
      <p:sp>
        <p:nvSpPr>
          <p:cNvPr id="32" name="Shape 29"/>
          <p:cNvSpPr/>
          <p:nvPr/>
        </p:nvSpPr>
        <p:spPr>
          <a:xfrm>
            <a:off x="603504" y="3218688"/>
            <a:ext cx="1965960" cy="54864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21792" y="3456432"/>
            <a:ext cx="5440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EB8C3"/>
                </a:solidFill>
              </a:rPr>
              <a:t>A Python-based public evidence collection, analysis, and reporting toolkit with GUI + CLI workflows.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640080" y="461772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FF7A18">
              <a:alpha val="93000"/>
            </a:srgbClr>
          </a:solidFill>
          <a:ln w="8890">
            <a:solidFill>
              <a:srgbClr val="FF7A1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0F14"/>
                </a:solidFill>
              </a:rPr>
              <a:t>PySide6 GUI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029968" y="461772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2D6E0">
              <a:alpha val="93000"/>
            </a:srgbClr>
          </a:solidFill>
          <a:ln w="8890">
            <a:solidFill>
              <a:srgbClr val="12D6E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0F14"/>
                </a:solidFill>
              </a:rPr>
              <a:t>CLI automation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419856" y="4617720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27D07D">
              <a:alpha val="93000"/>
            </a:srgbClr>
          </a:solidFill>
          <a:ln w="8890">
            <a:solidFill>
              <a:srgbClr val="27D07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0F14"/>
                </a:solidFill>
              </a:rPr>
              <a:t>Forensic reports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0080" y="6272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808C"/>
                </a:solidFill>
              </a:rPr>
              <a:t>University Project Presentation</a:t>
            </a:r>
            <a:endParaRPr lang="en-US" sz="12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38" name="Professional Team Members Panel"/>
          <p:cNvSpPr/>
          <p:nvPr/>
        </p:nvSpPr>
        <p:spPr>
          <a:xfrm>
            <a:off x="621792" y="5047488"/>
            <a:ext cx="5138928" cy="1060704"/>
          </a:xfrm>
          <a:prstGeom prst="roundRect">
            <a:avLst/>
          </a:prstGeom>
          <a:solidFill>
            <a:srgbClr val="090F1C"/>
          </a:solidFill>
          <a:ln w="14604">
            <a:solidFill>
              <a:srgbClr val="FF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am Panel Orange Accent"/>
          <p:cNvSpPr/>
          <p:nvPr/>
        </p:nvSpPr>
        <p:spPr>
          <a:xfrm>
            <a:off x="621792" y="5047488"/>
            <a:ext cx="50292" cy="1060704"/>
          </a:xfrm>
          <a:prstGeom prst="rect">
            <a:avLst/>
          </a:prstGeom>
          <a:solidFill>
            <a:srgbClr val="FF8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am Panel Title"/>
          <p:cNvSpPr txBox="1"/>
          <p:nvPr/>
        </p:nvSpPr>
        <p:spPr>
          <a:xfrm>
            <a:off x="786384" y="5120640"/>
            <a:ext cx="47548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8A1D"/>
                </a:solidFill>
                <a:latin typeface="Aptos Display"/>
              </a:rPr>
              <a:t>Prepared by</a:t>
            </a:r>
          </a:p>
        </p:txBody>
      </p:sp>
      <p:sp>
        <p:nvSpPr>
          <p:cNvPr id="41" name="Team Panel Header"/>
          <p:cNvSpPr txBox="1"/>
          <p:nvPr/>
        </p:nvSpPr>
        <p:spPr>
          <a:xfrm>
            <a:off x="786384" y="5340096"/>
            <a:ext cx="47548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80" b="1">
                <a:solidFill>
                  <a:srgbClr val="94A3B8"/>
                </a:solidFill>
                <a:latin typeface="Aptos"/>
              </a:rPr>
              <a:t>ID                         Student Name</a:t>
            </a:r>
          </a:p>
        </p:txBody>
      </p:sp>
      <p:sp>
        <p:nvSpPr>
          <p:cNvPr id="42" name="Team ID 1"/>
          <p:cNvSpPr txBox="1"/>
          <p:nvPr/>
        </p:nvSpPr>
        <p:spPr>
          <a:xfrm>
            <a:off x="786384" y="5477256"/>
            <a:ext cx="93268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FF8A1D"/>
                </a:solidFill>
                <a:latin typeface="Aptos"/>
              </a:rPr>
              <a:t>230104930</a:t>
            </a:r>
          </a:p>
        </p:txBody>
      </p:sp>
      <p:sp>
        <p:nvSpPr>
          <p:cNvPr id="43" name="Team Name 1"/>
          <p:cNvSpPr txBox="1"/>
          <p:nvPr/>
        </p:nvSpPr>
        <p:spPr>
          <a:xfrm>
            <a:off x="1810512" y="5477256"/>
            <a:ext cx="370332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1">
                <a:solidFill>
                  <a:srgbClr val="F8FAFC"/>
                </a:solidFill>
                <a:latin typeface="Aptos"/>
              </a:rPr>
              <a:t>Mahmoud Samir Mahmoud Mekkawy</a:t>
            </a:r>
          </a:p>
        </p:txBody>
      </p:sp>
      <p:sp>
        <p:nvSpPr>
          <p:cNvPr id="44" name="Team Row Separator 1"/>
          <p:cNvSpPr/>
          <p:nvPr/>
        </p:nvSpPr>
        <p:spPr>
          <a:xfrm>
            <a:off x="786384" y="5660136"/>
            <a:ext cx="4681728" cy="548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am ID 2"/>
          <p:cNvSpPr txBox="1"/>
          <p:nvPr/>
        </p:nvSpPr>
        <p:spPr>
          <a:xfrm>
            <a:off x="786384" y="5687568"/>
            <a:ext cx="93268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FF8A1D"/>
                </a:solidFill>
                <a:latin typeface="Aptos"/>
              </a:rPr>
              <a:t>230105908</a:t>
            </a:r>
          </a:p>
        </p:txBody>
      </p:sp>
      <p:sp>
        <p:nvSpPr>
          <p:cNvPr id="46" name="Team Name 2"/>
          <p:cNvSpPr txBox="1"/>
          <p:nvPr/>
        </p:nvSpPr>
        <p:spPr>
          <a:xfrm>
            <a:off x="1810512" y="5687568"/>
            <a:ext cx="370332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1">
                <a:solidFill>
                  <a:srgbClr val="F8FAFC"/>
                </a:solidFill>
                <a:latin typeface="Aptos"/>
              </a:rPr>
              <a:t>Salma Mohamed</a:t>
            </a:r>
          </a:p>
        </p:txBody>
      </p:sp>
      <p:sp>
        <p:nvSpPr>
          <p:cNvPr id="47" name="Team Row Separator 2"/>
          <p:cNvSpPr/>
          <p:nvPr/>
        </p:nvSpPr>
        <p:spPr>
          <a:xfrm>
            <a:off x="786384" y="5870448"/>
            <a:ext cx="4681728" cy="548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am ID 3"/>
          <p:cNvSpPr txBox="1"/>
          <p:nvPr/>
        </p:nvSpPr>
        <p:spPr>
          <a:xfrm>
            <a:off x="786384" y="5897880"/>
            <a:ext cx="93268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FF8A1D"/>
                </a:solidFill>
                <a:latin typeface="Aptos"/>
              </a:rPr>
              <a:t>230105995</a:t>
            </a:r>
          </a:p>
        </p:txBody>
      </p:sp>
      <p:sp>
        <p:nvSpPr>
          <p:cNvPr id="49" name="Team Name 3"/>
          <p:cNvSpPr txBox="1"/>
          <p:nvPr/>
        </p:nvSpPr>
        <p:spPr>
          <a:xfrm>
            <a:off x="1810512" y="5897880"/>
            <a:ext cx="370332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1">
                <a:solidFill>
                  <a:srgbClr val="F8FAFC"/>
                </a:solidFill>
                <a:latin typeface="Aptos"/>
              </a:rPr>
              <a:t>Menna Reda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02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822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social evidence is useful — but fragile.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6928" y="1417320"/>
            <a:ext cx="7955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Investigators need a repeatable way to capture, validate, and explain public signals without crossing legal or ethical boundaries.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2404872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🔎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2331720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Scattered traces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Profiles, aliases, links, mentions, and archives live across many public platforms.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2404872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92040" y="2331720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Volatile evidence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Pages change, disappear, or become gated; snapshots need timestamps and integrity.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3867912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⚙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3794760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Manual workload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Checking usernames, saving pages, and building reports is slow and inconsistent.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06240" y="3867912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3794760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Courtroom readiness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Evidence needs hashes, audit trail, provenance, and a clear chain of custody.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192024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080C11"/>
          </a:solidFill>
          <a:ln w="15240">
            <a:solidFill>
              <a:srgbClr val="2B3C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Shape 33"/>
          <p:cNvSpPr/>
          <p:nvPr/>
        </p:nvSpPr>
        <p:spPr>
          <a:xfrm>
            <a:off x="8366760" y="2011680"/>
            <a:ext cx="3063240" cy="256032"/>
          </a:xfrm>
          <a:prstGeom prst="rect">
            <a:avLst/>
          </a:prstGeom>
          <a:solidFill>
            <a:srgbClr val="111A24"/>
          </a:solidFill>
          <a:ln w="12700">
            <a:solidFill>
              <a:srgbClr val="111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4"/>
          <p:cNvSpPr/>
          <p:nvPr/>
        </p:nvSpPr>
        <p:spPr>
          <a:xfrm>
            <a:off x="8476488" y="2093976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5"/>
          <p:cNvSpPr/>
          <p:nvPr/>
        </p:nvSpPr>
        <p:spPr>
          <a:xfrm>
            <a:off x="8622792" y="2093976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Shape 36"/>
          <p:cNvSpPr/>
          <p:nvPr/>
        </p:nvSpPr>
        <p:spPr>
          <a:xfrm>
            <a:off x="8769096" y="2093976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Text 37"/>
          <p:cNvSpPr/>
          <p:nvPr/>
        </p:nvSpPr>
        <p:spPr>
          <a:xfrm>
            <a:off x="9006840" y="20574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808C"/>
                </a:solidFill>
              </a:rPr>
              <a:t>manual workflow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41080" y="2423160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Copy URL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41080" y="2953512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Open page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41080" y="3483864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Save proof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41080" y="4014216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Compute hash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41080" y="4544568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2C1A0F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Write report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77072" y="5074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A18"/>
                </a:solidFill>
              </a:rPr>
              <a:t>Risk: inconsistent evidence and missing context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03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863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Objective: one safe workflow from target to report.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6928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Build a production-oriented university project that collects only public evidence and produces auditable forensic outputs.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2057400"/>
            <a:ext cx="10561320" cy="777240"/>
          </a:xfrm>
          <a:prstGeom prst="roundRect">
            <a:avLst/>
          </a:prstGeom>
          <a:solidFill>
            <a:srgbClr val="22150C"/>
          </a:solidFill>
          <a:ln w="15240">
            <a:solidFill>
              <a:srgbClr val="FF7A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</a:rPr>
              <a:t>“Collect public-source evidence, preserve its integrity, analyze relationships, and produce a clear report bundle.”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08760" y="3429000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06908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Automate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one-button START plus CLI commands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429000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017520" y="406908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URL guardrails and confirmed vs possible leads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89320" y="3429000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406908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Preserve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HTML, screenshots, metadata, hashes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3429000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98080" y="406908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Analyze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username search, archive lookup, graph metrics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469880" y="3429000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738360" y="406908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Report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HTML/Markdown report + export bundle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58978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D6E0"/>
                </a:solidFill>
              </a:rPr>
              <a:t>Success criteria: accurate public findings, clean case hygiene, verified integrity, and reader-friendly outputs.</a:t>
            </a:r>
            <a:endParaRPr lang="en-US" sz="15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04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interfaces, one investigation engine.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66928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The PySide6 GUI and CLI both call the same workflow modules, keeping outputs consistent across demos and automation.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22402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Inputs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Case ID • URLs • Usernames • Reference profile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2770632"/>
            <a:ext cx="502920" cy="0"/>
          </a:xfrm>
          <a:prstGeom prst="line">
            <a:avLst/>
          </a:prstGeom>
          <a:noFill/>
          <a:ln w="17780">
            <a:solidFill>
              <a:srgbClr val="12D6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3246120" y="22402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START Workflow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validation + orchestration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12080" y="2770632"/>
            <a:ext cx="530352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5742432" y="22402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Collectors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profile • username • archives • web search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91272" y="2770632"/>
            <a:ext cx="539496" cy="0"/>
          </a:xfrm>
          <a:prstGeom prst="line">
            <a:avLst/>
          </a:prstGeom>
          <a:noFill/>
          <a:ln w="17780">
            <a:solidFill>
              <a:srgbClr val="12D6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8430768" y="22402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Case Store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snapshots • cache • evidence rows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09760" y="3291840"/>
            <a:ext cx="0" cy="521208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2"/>
          <p:cNvSpPr/>
          <p:nvPr/>
        </p:nvSpPr>
        <p:spPr>
          <a:xfrm>
            <a:off x="8430768" y="3593592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Outputs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7FA"/>
                </a:solidFill>
              </a:rPr>
              <a:t>reports • graphs • manifests • ZIP bundle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3232" y="4919472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080C11"/>
          </a:solidFill>
          <a:ln w="15240">
            <a:solidFill>
              <a:srgbClr val="2B3C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4"/>
          <p:cNvSpPr/>
          <p:nvPr/>
        </p:nvSpPr>
        <p:spPr>
          <a:xfrm>
            <a:off x="804672" y="5010912"/>
            <a:ext cx="5029200" cy="256032"/>
          </a:xfrm>
          <a:prstGeom prst="rect">
            <a:avLst/>
          </a:prstGeom>
          <a:solidFill>
            <a:srgbClr val="111A24"/>
          </a:solidFill>
          <a:ln w="12700">
            <a:solidFill>
              <a:srgbClr val="111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5"/>
          <p:cNvSpPr/>
          <p:nvPr/>
        </p:nvSpPr>
        <p:spPr>
          <a:xfrm>
            <a:off x="914400" y="5093208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Shape 36"/>
          <p:cNvSpPr/>
          <p:nvPr/>
        </p:nvSpPr>
        <p:spPr>
          <a:xfrm>
            <a:off x="1060704" y="5093208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Shape 37"/>
          <p:cNvSpPr/>
          <p:nvPr/>
        </p:nvSpPr>
        <p:spPr>
          <a:xfrm>
            <a:off x="1207008" y="5093208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0" name="Text 38"/>
          <p:cNvSpPr/>
          <p:nvPr/>
        </p:nvSpPr>
        <p:spPr>
          <a:xfrm>
            <a:off x="1444752" y="50566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808C"/>
                </a:solidFill>
              </a:rPr>
              <a:t>GUI mode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0120" y="5330952"/>
            <a:ext cx="2331720" cy="676656"/>
          </a:xfrm>
          <a:prstGeom prst="roundRect">
            <a:avLst>
              <a:gd name="adj" fmla="val 8108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PySide6 GUI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Case Manager • Evidence Locker • START button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01568" y="5330952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CLI mode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7FA"/>
                </a:solidFill>
              </a:rPr>
              <a:t>archive • username • recover • graph • report • verify • export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4919472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080C11"/>
          </a:solidFill>
          <a:ln w="15240">
            <a:solidFill>
              <a:srgbClr val="2B3C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4" name="Shape 42"/>
          <p:cNvSpPr/>
          <p:nvPr/>
        </p:nvSpPr>
        <p:spPr>
          <a:xfrm>
            <a:off x="6675120" y="5010912"/>
            <a:ext cx="4297680" cy="256032"/>
          </a:xfrm>
          <a:prstGeom prst="rect">
            <a:avLst/>
          </a:prstGeom>
          <a:solidFill>
            <a:srgbClr val="111A24"/>
          </a:solidFill>
          <a:ln w="12700">
            <a:solidFill>
              <a:srgbClr val="111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5" name="Shape 43"/>
          <p:cNvSpPr/>
          <p:nvPr/>
        </p:nvSpPr>
        <p:spPr>
          <a:xfrm>
            <a:off x="6784848" y="5093208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6" name="Shape 44"/>
          <p:cNvSpPr/>
          <p:nvPr/>
        </p:nvSpPr>
        <p:spPr>
          <a:xfrm>
            <a:off x="6931152" y="5093208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7" name="Shape 45"/>
          <p:cNvSpPr/>
          <p:nvPr/>
        </p:nvSpPr>
        <p:spPr>
          <a:xfrm>
            <a:off x="7077456" y="5093208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8" name="Text 46"/>
          <p:cNvSpPr/>
          <p:nvPr/>
        </p:nvSpPr>
        <p:spPr>
          <a:xfrm>
            <a:off x="7315200" y="50566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808C"/>
                </a:solidFill>
              </a:rPr>
              <a:t>output structure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95160" y="5358384"/>
            <a:ext cx="3566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data/&lt;case_id&gt;/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snapshots/  cache/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graphs/     reports/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exports/</a:t>
            </a:r>
            <a:endParaRPr lang="en-US" sz="13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05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 built for forensic clarity.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" y="1691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" y="1929384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🧭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0472" y="1929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</a:rPr>
              <a:t>Public URL guardrails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0472" y="2286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EB8C3"/>
                </a:solidFill>
              </a:rPr>
              <a:t>Reject private/internal/credential-bearing targets.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0" y="1691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53712" y="1929384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93792" y="1929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</a:rPr>
              <a:t>Snapshot preservation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792" y="2286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EB8C3"/>
                </a:solidFill>
              </a:rPr>
              <a:t>Store HTML, metadata, timestamps, headers, screenshot when available.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92440" y="1691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57032" y="1929384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897112" y="1929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</a:rPr>
              <a:t>Profile extraction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7112" y="2286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EB8C3"/>
                </a:solidFill>
              </a:rPr>
              <a:t>Extract public handles, bios, canonical links, metadata, and visible signals.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5800" y="35661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0392" y="3803904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🌐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90472" y="3803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</a:rPr>
              <a:t>Username search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0472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EB8C3"/>
                </a:solidFill>
              </a:rPr>
              <a:t>Check public URL patterns and confidence-score candidate leads.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89120" y="35661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53712" y="3803904"/>
            <a:ext cx="502920" cy="502920"/>
          </a:xfrm>
          <a:prstGeom prst="ellipse">
            <a:avLst/>
          </a:prstGeom>
          <a:solidFill>
            <a:srgbClr val="FF7A18"/>
          </a:solidFill>
          <a:ln>
            <a:solidFill>
              <a:srgbClr val="FF7A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🕰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193792" y="3803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</a:rPr>
              <a:t>Archive lookup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93792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EB8C3"/>
                </a:solidFill>
              </a:rPr>
              <a:t>Record public historical archive availability and limitations.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092440" y="35661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57032" y="3803904"/>
            <a:ext cx="502920" cy="502920"/>
          </a:xfrm>
          <a:prstGeom prst="ellipse">
            <a:avLst/>
          </a:prstGeom>
          <a:solidFill>
            <a:srgbClr val="12D6E0"/>
          </a:solidFill>
          <a:ln>
            <a:solidFill>
              <a:srgbClr val="12D6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0F14"/>
                </a:solidFill>
              </a:rPr>
              <a:t>🧾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897112" y="3803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</a:rPr>
              <a:t>Forensic report bundle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97112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EB8C3"/>
                </a:solidFill>
              </a:rPr>
              <a:t>Generate HTML/Markdown, manifests, CSV, graph files, and ZIP export.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22960" y="5989320"/>
            <a:ext cx="10607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18"/>
                </a:solidFill>
              </a:rPr>
              <a:t>Design principle: confirm before promoting — blocked, login-gated, or 404 checks remain evidence, not findings.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/ Architecture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06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 workflow: repeatable and exportable.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66928" y="1371600"/>
            <a:ext cx="7498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The recommended flow keeps one active case context and produces stable latest outputs for review.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" y="2221992"/>
            <a:ext cx="1325880" cy="1115568"/>
          </a:xfrm>
          <a:prstGeom prst="roundRect">
            <a:avLst>
              <a:gd name="adj" fmla="val 4918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Active case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278892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2532888" y="2221992"/>
            <a:ext cx="1325880" cy="1115568"/>
          </a:xfrm>
          <a:prstGeom prst="roundRect">
            <a:avLst>
              <a:gd name="adj" fmla="val 4918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Target intake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06240" y="2788920"/>
            <a:ext cx="246888" cy="0"/>
          </a:xfrm>
          <a:prstGeom prst="line">
            <a:avLst/>
          </a:prstGeom>
          <a:noFill/>
          <a:ln w="17780">
            <a:solidFill>
              <a:srgbClr val="12D6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4407408" y="2221992"/>
            <a:ext cx="1325880" cy="1115568"/>
          </a:xfrm>
          <a:prstGeom prst="roundRect">
            <a:avLst>
              <a:gd name="adj" fmla="val 4918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Collect &amp; extract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80760" y="278892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6281928" y="2221992"/>
            <a:ext cx="1325880" cy="1115568"/>
          </a:xfrm>
          <a:prstGeom prst="roundRect">
            <a:avLst>
              <a:gd name="adj" fmla="val 4918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Search &amp; archive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55280" y="2788920"/>
            <a:ext cx="246888" cy="0"/>
          </a:xfrm>
          <a:prstGeom prst="line">
            <a:avLst/>
          </a:prstGeom>
          <a:noFill/>
          <a:ln w="17780">
            <a:solidFill>
              <a:srgbClr val="12D6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2"/>
          <p:cNvSpPr/>
          <p:nvPr/>
        </p:nvSpPr>
        <p:spPr>
          <a:xfrm>
            <a:off x="8156448" y="2221992"/>
            <a:ext cx="1325880" cy="1115568"/>
          </a:xfrm>
          <a:prstGeom prst="roundRect">
            <a:avLst>
              <a:gd name="adj" fmla="val 4918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Build graph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29800" y="278892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4"/>
          <p:cNvSpPr/>
          <p:nvPr/>
        </p:nvSpPr>
        <p:spPr>
          <a:xfrm>
            <a:off x="10030968" y="2221992"/>
            <a:ext cx="1325880" cy="1115568"/>
          </a:xfrm>
          <a:prstGeom prst="roundRect">
            <a:avLst>
              <a:gd name="adj" fmla="val 4918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Verify &amp; export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416052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4808C"/>
                </a:solidFill>
              </a:rPr>
              <a:t>MODULE LAYERS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4805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GUI / CLI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44805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Workflow Orchestrator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4920" y="44805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Collectors + Analysis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35240" y="44805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Storage + Reports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58400" y="448056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</a:rPr>
              <a:t>Case Bundle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" y="563270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B8C3"/>
                </a:solidFill>
              </a:rPr>
              <a:t>Stable outputs: network_latest.* and report_latest.* reduce clutter during repeated test runs.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Collection &amp; Chain of Custody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07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integrity is built into every artifact.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66928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Snapshots, exports, and reports are tied to timestamps, SHA-256 hashes, and a chain-of-custody record.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21488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Collect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public URL / username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283464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3017520" y="21488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02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Preserve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HTML, metadata, screenshot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83464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5257800" y="21488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03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Hash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SHA-256 artifact digest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78040" y="283464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7498080" y="21488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41D28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04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Record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manifest + chain link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18320" y="2834640"/>
            <a:ext cx="246888" cy="0"/>
          </a:xfrm>
          <a:prstGeom prst="line">
            <a:avLst/>
          </a:prstGeom>
          <a:noFill/>
          <a:ln w="17780">
            <a:solidFill>
              <a:srgbClr val="FF7A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2"/>
          <p:cNvSpPr/>
          <p:nvPr/>
        </p:nvSpPr>
        <p:spPr>
          <a:xfrm>
            <a:off x="9738360" y="21488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05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Verify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</a:rPr>
              <a:t>OK / issue counts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240" y="4343400"/>
            <a:ext cx="5303520" cy="1508760"/>
          </a:xfrm>
          <a:prstGeom prst="roundRect">
            <a:avLst>
              <a:gd name="adj" fmla="val 3636"/>
            </a:avLst>
          </a:prstGeom>
          <a:solidFill>
            <a:srgbClr val="080C11"/>
          </a:solidFill>
          <a:ln w="15240">
            <a:solidFill>
              <a:srgbClr val="2B3C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4"/>
          <p:cNvSpPr/>
          <p:nvPr/>
        </p:nvSpPr>
        <p:spPr>
          <a:xfrm>
            <a:off x="868680" y="4434840"/>
            <a:ext cx="5120640" cy="256032"/>
          </a:xfrm>
          <a:prstGeom prst="rect">
            <a:avLst/>
          </a:prstGeom>
          <a:solidFill>
            <a:srgbClr val="111A24"/>
          </a:solidFill>
          <a:ln w="12700">
            <a:solidFill>
              <a:srgbClr val="111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5"/>
          <p:cNvSpPr/>
          <p:nvPr/>
        </p:nvSpPr>
        <p:spPr>
          <a:xfrm>
            <a:off x="978408" y="4517136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Shape 36"/>
          <p:cNvSpPr/>
          <p:nvPr/>
        </p:nvSpPr>
        <p:spPr>
          <a:xfrm>
            <a:off x="1124712" y="4517136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Shape 37"/>
          <p:cNvSpPr/>
          <p:nvPr/>
        </p:nvSpPr>
        <p:spPr>
          <a:xfrm>
            <a:off x="1271016" y="4517136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0" name="Text 38"/>
          <p:cNvSpPr/>
          <p:nvPr/>
        </p:nvSpPr>
        <p:spPr>
          <a:xfrm>
            <a:off x="1508760" y="44805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808C"/>
                </a:solidFill>
              </a:rPr>
              <a:t>chain_of_custody.json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24128" y="4773168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"artifact_sha256":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"event_type": "evidence_added",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"timestamp_utc":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"previous_hash": "..."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4370832"/>
            <a:ext cx="4069080" cy="1417320"/>
          </a:xfrm>
          <a:prstGeom prst="roundRect">
            <a:avLst>
              <a:gd name="adj" fmla="val 3871"/>
            </a:avLst>
          </a:prstGeom>
          <a:solidFill>
            <a:srgbClr val="141D28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Why it matters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• proves artifact integrity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• supports repeatability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• separates raw evidence from findings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F7FA"/>
                </a:solidFill>
              </a:rPr>
              <a:t>• allows later verification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Graph &amp; Reporting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08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becomes visual, searchable, and report-ready.</a:t>
            </a:r>
            <a:endParaRPr lang="en-US" sz="3100" dirty="0"/>
          </a:p>
        </p:txBody>
      </p:sp>
      <p:sp>
        <p:nvSpPr>
          <p:cNvPr id="25" name="Shape 23"/>
          <p:cNvSpPr/>
          <p:nvPr/>
        </p:nvSpPr>
        <p:spPr>
          <a:xfrm>
            <a:off x="685800" y="1572768"/>
            <a:ext cx="5486400" cy="4389120"/>
          </a:xfrm>
          <a:prstGeom prst="roundRect">
            <a:avLst>
              <a:gd name="adj" fmla="val 1250"/>
            </a:avLst>
          </a:prstGeom>
          <a:solidFill>
            <a:srgbClr val="080C11"/>
          </a:solidFill>
          <a:ln w="15240">
            <a:solidFill>
              <a:srgbClr val="2B3C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Shape 24"/>
          <p:cNvSpPr/>
          <p:nvPr/>
        </p:nvSpPr>
        <p:spPr>
          <a:xfrm>
            <a:off x="777240" y="1664208"/>
            <a:ext cx="5303520" cy="256032"/>
          </a:xfrm>
          <a:prstGeom prst="rect">
            <a:avLst/>
          </a:prstGeom>
          <a:solidFill>
            <a:srgbClr val="111A24"/>
          </a:solidFill>
          <a:ln w="12700">
            <a:solidFill>
              <a:srgbClr val="111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Shape 25"/>
          <p:cNvSpPr/>
          <p:nvPr/>
        </p:nvSpPr>
        <p:spPr>
          <a:xfrm>
            <a:off x="886968" y="1746504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Shape 26"/>
          <p:cNvSpPr/>
          <p:nvPr/>
        </p:nvSpPr>
        <p:spPr>
          <a:xfrm>
            <a:off x="1033272" y="1746504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Shape 27"/>
          <p:cNvSpPr/>
          <p:nvPr/>
        </p:nvSpPr>
        <p:spPr>
          <a:xfrm>
            <a:off x="1179576" y="1746504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1417320" y="17099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808C"/>
                </a:solidFill>
              </a:rPr>
              <a:t>network_latest.png</a:t>
            </a:r>
            <a:endParaRPr lang="en-US" sz="800" dirty="0"/>
          </a:p>
        </p:txBody>
      </p:sp>
      <p:pic>
        <p:nvPicPr>
          <p:cNvPr id="31" name="Image 0" descr="/mnt/data/project/social_media_forensics_osint/data/111/graphs/network_latest.png"/>
          <p:cNvPicPr>
            <a:picLocks noChangeAspect="1"/>
          </p:cNvPicPr>
          <p:nvPr/>
        </p:nvPicPr>
        <p:blipFill>
          <a:blip r:embed="rId3"/>
          <a:srcRect t="3426" b="3426"/>
          <a:stretch/>
        </p:blipFill>
        <p:spPr>
          <a:xfrm>
            <a:off x="841248" y="2011680"/>
            <a:ext cx="5175504" cy="33375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14400" y="56235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D6E0"/>
                </a:solidFill>
              </a:rPr>
              <a:t>Graph outputs: PNG • GEXF • JSON • interactive HTML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720840" y="1572768"/>
            <a:ext cx="4709160" cy="4389120"/>
          </a:xfrm>
          <a:prstGeom prst="roundRect">
            <a:avLst>
              <a:gd name="adj" fmla="val 1250"/>
            </a:avLst>
          </a:prstGeom>
          <a:solidFill>
            <a:srgbClr val="080C11"/>
          </a:solidFill>
          <a:ln w="15240">
            <a:solidFill>
              <a:srgbClr val="2B3C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4" name="Shape 31"/>
          <p:cNvSpPr/>
          <p:nvPr/>
        </p:nvSpPr>
        <p:spPr>
          <a:xfrm>
            <a:off x="6812280" y="1664208"/>
            <a:ext cx="4526280" cy="256032"/>
          </a:xfrm>
          <a:prstGeom prst="rect">
            <a:avLst/>
          </a:prstGeom>
          <a:solidFill>
            <a:srgbClr val="111A24"/>
          </a:solidFill>
          <a:ln w="12700">
            <a:solidFill>
              <a:srgbClr val="111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Shape 32"/>
          <p:cNvSpPr/>
          <p:nvPr/>
        </p:nvSpPr>
        <p:spPr>
          <a:xfrm>
            <a:off x="6922008" y="1746504"/>
            <a:ext cx="54864" cy="54864"/>
          </a:xfrm>
          <a:prstGeom prst="arc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3"/>
          <p:cNvSpPr/>
          <p:nvPr/>
        </p:nvSpPr>
        <p:spPr>
          <a:xfrm>
            <a:off x="7068312" y="1746504"/>
            <a:ext cx="54864" cy="54864"/>
          </a:xfrm>
          <a:prstGeom prst="arc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4"/>
          <p:cNvSpPr/>
          <p:nvPr/>
        </p:nvSpPr>
        <p:spPr>
          <a:xfrm>
            <a:off x="7214616" y="1746504"/>
            <a:ext cx="54864" cy="54864"/>
          </a:xfrm>
          <a:prstGeom prst="arc">
            <a:avLst/>
          </a:prstGeom>
          <a:solidFill>
            <a:srgbClr val="27D07D"/>
          </a:solidFill>
          <a:ln w="12700">
            <a:solidFill>
              <a:srgbClr val="27D07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Text 35"/>
          <p:cNvSpPr/>
          <p:nvPr/>
        </p:nvSpPr>
        <p:spPr>
          <a:xfrm>
            <a:off x="7452360" y="170992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808C"/>
                </a:solidFill>
              </a:rPr>
              <a:t>report_latest.html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022592" y="2011680"/>
            <a:ext cx="4096512" cy="411480"/>
          </a:xfrm>
          <a:prstGeom prst="roundRect">
            <a:avLst>
              <a:gd name="adj" fmla="val 13333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</a:rPr>
              <a:t>Executive Dashboard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132320" y="2697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17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713232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hash OK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366760" y="2697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0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836676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issues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601200" y="2697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ZIP</a:t>
            </a:r>
            <a:endParaRPr lang="en-US" sz="2600" dirty="0"/>
          </a:p>
        </p:txBody>
      </p:sp>
      <p:sp>
        <p:nvSpPr>
          <p:cNvPr id="45" name="Text 42"/>
          <p:cNvSpPr/>
          <p:nvPr/>
        </p:nvSpPr>
        <p:spPr>
          <a:xfrm>
            <a:off x="960120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bundle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114032" y="3776472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Sections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• summary first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• confirmed accounts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• candidate leads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• graph metrics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• evidence timeline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• export links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144000" y="3776472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1A2633"/>
          </a:solidFill>
          <a:ln w="12700">
            <a:solidFill>
              <a:srgbClr val="2B3C4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Report formats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HTML for review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Markdown for sharing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CSV for spreadsheet workflows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5F7FA"/>
                </a:solidFill>
              </a:rPr>
              <a:t>Manifest JSON for verification</a:t>
            </a:r>
            <a:endParaRPr 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Use / Legal Scope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09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lawful public-source investigation.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66928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The framework records what is publicly available and documents access limitations instead of bypassing them.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D07D"/>
                </a:solidFill>
              </a:rPr>
              <a:t>IN SCOPE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1228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D57"/>
                </a:solidFill>
              </a:rPr>
              <a:t>OUT OF SCOPE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2514600"/>
            <a:ext cx="4617720" cy="2331720"/>
          </a:xfrm>
          <a:prstGeom prst="roundRect">
            <a:avLst>
              <a:gd name="adj" fmla="val 2353"/>
            </a:avLst>
          </a:prstGeom>
          <a:solidFill>
            <a:srgbClr val="0D2418"/>
          </a:solidFill>
          <a:ln w="12700">
            <a:solidFill>
              <a:srgbClr val="27D07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Public profiles and pages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Public metadata and links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Public archives and cached availability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Evidence hashing and preservation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Manual review of candidate leads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2514600"/>
            <a:ext cx="4617720" cy="2331720"/>
          </a:xfrm>
          <a:prstGeom prst="roundRect">
            <a:avLst>
              <a:gd name="adj" fmla="val 2353"/>
            </a:avLst>
          </a:prstGeom>
          <a:solidFill>
            <a:srgbClr val="271016"/>
          </a:solidFill>
          <a:ln w="12700">
            <a:solidFill>
              <a:srgbClr val="FF4D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✕ Login bypass or private content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✕ CAPTCHA or paywall circumvention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✕ Accessing deleted/private accounts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✕ Credential-bearing URLs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✕ Claims without public 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8992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7A18"/>
                </a:solidFill>
              </a:rPr>
              <a:t>Ethical design choice: blocked or gated pages are stored as limitations or possible leads — not as confirmed findings.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16459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27432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49377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60350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713232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1042416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11521440" y="320040"/>
            <a:ext cx="0" cy="617220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228600" y="7772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28600" y="324612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228600" y="489204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228600" y="571500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228600" y="6537960"/>
            <a:ext cx="11734495" cy="0"/>
          </a:xfrm>
          <a:prstGeom prst="line">
            <a:avLst/>
          </a:prstGeom>
          <a:noFill/>
          <a:ln w="3175">
            <a:solidFill>
              <a:srgbClr val="1A26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02920" y="228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Results, Testing &amp; Conclusion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9264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C"/>
                </a:solidFill>
              </a:rPr>
              <a:t>10 / 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7955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Outcome: a complete public OSINT case toolkit.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66928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EB8C3"/>
                </a:solidFill>
              </a:rPr>
              <a:t>The project demonstrates collection, analysis, reporting, and verification in a single repeatable pipeline.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GUI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0292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PySide6 one-button workflow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CLI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83464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automation commands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HTML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16636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forensic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SHA-256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9808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hash verification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298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18"/>
                </a:solidFill>
              </a:rPr>
              <a:t>ZIP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82980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8C3"/>
                </a:solidFill>
              </a:rPr>
              <a:t>evidence bundle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3657600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141D28"/>
          </a:solidFill>
          <a:ln w="12700">
            <a:solidFill>
              <a:srgbClr val="12D6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5F7FA"/>
                </a:solidFill>
              </a:rPr>
              <a:t>Testing summary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7FA"/>
                </a:solidFill>
              </a:rPr>
              <a:t>• smoke pipeline passes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7FA"/>
                </a:solidFill>
              </a:rPr>
              <a:t>• hash integrity verified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7FA"/>
                </a:solidFill>
              </a:rPr>
              <a:t>• graph/report/export files generated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7FA"/>
                </a:solidFill>
              </a:rPr>
              <a:t>• 404 and blocked checks are not promoted as accounts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7FA"/>
                </a:solidFill>
              </a:rPr>
              <a:t>• duplicate targets are handled cleanly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3657600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21170E"/>
          </a:solidFill>
          <a:ln w="12700">
            <a:solidFill>
              <a:srgbClr val="FF7A1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7FA"/>
                </a:solidFill>
              </a:rPr>
              <a:t>Conclusion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5F7FA"/>
                </a:solidFill>
              </a:rPr>
              <a:t>This framework turns scattered public social media traces into auditable, organized, and defensible case evidence while respecting legal and ethical boundaries.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5840" y="598932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EB8C3"/>
                </a:solidFill>
              </a:rPr>
              <a:t>Future scope: richer platform adapters, better graph summarization, and investigator collaboration features.</a:t>
            </a:r>
            <a:endParaRPr lang="en-US" sz="13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6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1435</Words>
  <Application>Microsoft Macintosh PowerPoint</Application>
  <PresentationFormat>شاشة عريضة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Forensics &amp; OSINT Investigation Framework</dc:title>
  <dc:subject>Social Media Forensics &amp; OSINT Investigation Framework</dc:subject>
  <dc:creator>OpenAI</dc:creator>
  <cp:lastModifiedBy>Mahmoud Samir Mahmoud Mekawy</cp:lastModifiedBy>
  <cp:revision>2</cp:revision>
  <dcterms:created xsi:type="dcterms:W3CDTF">2026-05-09T23:55:45Z</dcterms:created>
  <dcterms:modified xsi:type="dcterms:W3CDTF">2026-05-10T00:21:05Z</dcterms:modified>
</cp:coreProperties>
</file>